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959" autoAdjust="0"/>
  </p:normalViewPr>
  <p:slideViewPr>
    <p:cSldViewPr snapToGrid="0">
      <p:cViewPr>
        <p:scale>
          <a:sx n="49" d="100"/>
          <a:sy n="49" d="100"/>
        </p:scale>
        <p:origin x="1336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C7B8E52-367C-4BAF-B1CD-F74D0CC0D7E1}" type="datetimeFigureOut">
              <a:rPr lang="he-IL" smtClean="0"/>
              <a:t>כ"א/שבט/תשפ"ה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634CAAFF-932A-409C-9E7C-23682F27021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979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>
                <a:effectLst/>
                <a:latin typeface="Segoe UI" panose="020B0502040204020203" pitchFamily="34" charset="0"/>
              </a:rPr>
              <a:t>כלי </a:t>
            </a:r>
            <a:r>
              <a:rPr lang="en-US" dirty="0">
                <a:effectLst/>
                <a:latin typeface="Segoe UI" panose="020B0502040204020203" pitchFamily="34" charset="0"/>
              </a:rPr>
              <a:t>Profiling </a:t>
            </a:r>
            <a:r>
              <a:rPr lang="he-IL" dirty="0">
                <a:effectLst/>
                <a:latin typeface="Segoe UI" panose="020B0502040204020203" pitchFamily="34" charset="0"/>
              </a:rPr>
              <a:t>הם כלים שמטרתם לנתח את ביצועי הקוד, לזהות צווארי בקבוק, ולסייע בשיפור יעילות וזמני הריצה של תוכניות.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4CAAFF-932A-409C-9E7C-23682F270214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275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2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9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3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57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75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61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6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42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C8762-5C21-06BD-B6DE-AD31FB15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006" y="1129553"/>
            <a:ext cx="4545874" cy="37559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Analysis and Inference of Deep Learning models </a:t>
            </a:r>
            <a:br>
              <a:rPr lang="en-US" dirty="0"/>
            </a:br>
            <a:r>
              <a:rPr lang="en-US" sz="2200" dirty="0"/>
              <a:t>Analyzing and optimizing workload and performance on GPU</a:t>
            </a:r>
          </a:p>
        </p:txBody>
      </p:sp>
      <p:pic>
        <p:nvPicPr>
          <p:cNvPr id="4" name="Picture 3" descr="A computer chip with a glowing circle&#10;&#10;AI-generated content may be incorrect.">
            <a:extLst>
              <a:ext uri="{FF2B5EF4-FFF2-40B4-BE49-F238E27FC236}">
                <a16:creationId xmlns:a16="http://schemas.microsoft.com/office/drawing/2014/main" id="{8729C6F3-CC7B-9356-AEBB-BB864C3E4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r="3492"/>
          <a:stretch/>
        </p:blipFill>
        <p:spPr>
          <a:xfrm>
            <a:off x="1" y="56847"/>
            <a:ext cx="657559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EEA753-C971-8FBD-DB20-76527FCB1A6A}"/>
              </a:ext>
            </a:extLst>
          </p:cNvPr>
          <p:cNvSpPr txBox="1"/>
          <p:nvPr/>
        </p:nvSpPr>
        <p:spPr>
          <a:xfrm>
            <a:off x="7006356" y="5160521"/>
            <a:ext cx="475488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u="sng" dirty="0"/>
              <a:t>Mentors: </a:t>
            </a:r>
          </a:p>
          <a:p>
            <a:r>
              <a:rPr lang="en-US" dirty="0"/>
              <a:t>Pinchas </a:t>
            </a:r>
            <a:r>
              <a:rPr lang="en-US" dirty="0" err="1"/>
              <a:t>Tandeitnik</a:t>
            </a:r>
            <a:r>
              <a:rPr lang="en-US" dirty="0"/>
              <a:t>, Yoav Ellinson</a:t>
            </a:r>
          </a:p>
          <a:p>
            <a:r>
              <a:rPr lang="en-US" u="sng" dirty="0"/>
              <a:t>Students:</a:t>
            </a:r>
          </a:p>
          <a:p>
            <a:r>
              <a:rPr lang="en-US" dirty="0"/>
              <a:t>Zohar Rachel Elbaz </a:t>
            </a:r>
          </a:p>
          <a:p>
            <a:r>
              <a:rPr lang="en-US" dirty="0"/>
              <a:t>Ariel Jacob Benillouche</a:t>
            </a:r>
          </a:p>
          <a:p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F5F85-D99B-C0F4-D365-42F0F19AA0B4}"/>
              </a:ext>
            </a:extLst>
          </p:cNvPr>
          <p:cNvSpPr txBox="1"/>
          <p:nvPr/>
        </p:nvSpPr>
        <p:spPr>
          <a:xfrm>
            <a:off x="8830491" y="352697"/>
            <a:ext cx="2625635" cy="61555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1600" dirty="0"/>
              <a:t>בס"ד</a:t>
            </a:r>
          </a:p>
          <a:p>
            <a:pPr algn="r" rtl="1"/>
            <a:r>
              <a:rPr lang="he-IL" dirty="0"/>
              <a:t>פברואר 2025</a:t>
            </a:r>
          </a:p>
        </p:txBody>
      </p:sp>
    </p:spTree>
    <p:extLst>
      <p:ext uri="{BB962C8B-B14F-4D97-AF65-F5344CB8AC3E}">
        <p14:creationId xmlns:p14="http://schemas.microsoft.com/office/powerpoint/2010/main" val="2391151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EB4E3-AD4F-BC03-06C9-905803881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908" y="418011"/>
            <a:ext cx="4361688" cy="9341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e-IL" sz="4000" dirty="0">
                <a:latin typeface="Arial" panose="020B0604020202020204" pitchFamily="34" charset="0"/>
                <a:cs typeface="Arial" panose="020B0604020202020204" pitchFamily="34" charset="0"/>
              </a:rPr>
              <a:t>מטרות הפרויקט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3B3124-3438-F47E-C628-529779CC45A1}"/>
              </a:ext>
            </a:extLst>
          </p:cNvPr>
          <p:cNvSpPr txBox="1">
            <a:spLocks/>
          </p:cNvSpPr>
          <p:nvPr/>
        </p:nvSpPr>
        <p:spPr>
          <a:xfrm>
            <a:off x="924850" y="1589314"/>
            <a:ext cx="10165515" cy="4419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F96CA4-02A7-AB86-DDC9-A440DF0BF85F}"/>
              </a:ext>
            </a:extLst>
          </p:cNvPr>
          <p:cNvSpPr txBox="1">
            <a:spLocks/>
          </p:cNvSpPr>
          <p:nvPr/>
        </p:nvSpPr>
        <p:spPr>
          <a:xfrm>
            <a:off x="3749040" y="1331389"/>
            <a:ext cx="8199556" cy="5017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6F210-D788-B40A-90CD-5B3246484251}"/>
              </a:ext>
            </a:extLst>
          </p:cNvPr>
          <p:cNvSpPr txBox="1"/>
          <p:nvPr/>
        </p:nvSpPr>
        <p:spPr>
          <a:xfrm>
            <a:off x="2586446" y="1589314"/>
            <a:ext cx="9235440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מטרת הפרויקט הינה להקטין את גודל המודלים הקיימים ללמידה עמוקה ולהקטין את העומס החישובי על ה 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GPU</a:t>
            </a: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תוך שמירה על ביצועים  (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BIT EXACT</a:t>
            </a:r>
            <a:r>
              <a:rPr lang="he-IL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</a:p>
          <a:p>
            <a:pPr algn="r" rtl="1"/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371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all painted with an arrow and a dartboard">
            <a:extLst>
              <a:ext uri="{FF2B5EF4-FFF2-40B4-BE49-F238E27FC236}">
                <a16:creationId xmlns:a16="http://schemas.microsoft.com/office/drawing/2014/main" id="{C4236BCA-07BD-90EA-18BE-50D2EFDBA6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44"/>
          <a:stretch/>
        </p:blipFill>
        <p:spPr>
          <a:xfrm>
            <a:off x="396240" y="-859"/>
            <a:ext cx="65755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EAF0DF-2847-A43F-3DA0-C697EE6E3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399" y="-2070846"/>
            <a:ext cx="4448848" cy="34752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e-IL" sz="5400" dirty="0"/>
              <a:t>יעדים</a:t>
            </a:r>
            <a:endParaRPr lang="en-US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D00C0-ED7F-4EE7-3CCA-96825BB386CB}"/>
              </a:ext>
            </a:extLst>
          </p:cNvPr>
          <p:cNvSpPr txBox="1"/>
          <p:nvPr/>
        </p:nvSpPr>
        <p:spPr>
          <a:xfrm>
            <a:off x="7067006" y="1502229"/>
            <a:ext cx="4728754" cy="711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ייבחנו ביצועים של מספר מודלים מסחריים, כאלה שפותחו במעבדה, וכאלה שיפותחו במהלך הפרויקט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37A8E-94BF-72DB-563C-F75EA79E95B5}"/>
              </a:ext>
            </a:extLst>
          </p:cNvPr>
          <p:cNvSpPr txBox="1"/>
          <p:nvPr/>
        </p:nvSpPr>
        <p:spPr>
          <a:xfrm>
            <a:off x="7067006" y="2137052"/>
            <a:ext cx="4728754" cy="7023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he-IL" dirty="0"/>
              <a:t> ייבחנו ביצועים כתלות בגודל המודלים וכתלות בגודל בסיסי הנתונים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03765-9FBC-9C3D-0CA9-1CBDF05EA94E}"/>
              </a:ext>
            </a:extLst>
          </p:cNvPr>
          <p:cNvSpPr txBox="1"/>
          <p:nvPr/>
        </p:nvSpPr>
        <p:spPr>
          <a:xfrm>
            <a:off x="7029343" y="2790111"/>
            <a:ext cx="4728754" cy="11090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-היכרות עם ספריית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JIT</a:t>
            </a: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לפייתון לצורך שיפור ביצועים ב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CPU</a:t>
            </a:r>
          </a:p>
          <a:p>
            <a:pPr algn="r" rtl="1"/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AC9B2-2A97-75A8-91B5-B9C28ECE56ED}"/>
              </a:ext>
            </a:extLst>
          </p:cNvPr>
          <p:cNvSpPr txBox="1"/>
          <p:nvPr/>
        </p:nvSpPr>
        <p:spPr>
          <a:xfrm>
            <a:off x="7086855" y="3493822"/>
            <a:ext cx="4728754" cy="7904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-בחינת כלי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PROFILING</a:t>
            </a: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לנצילות השימוש ב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GPU</a:t>
            </a:r>
            <a:r>
              <a:rPr lang="en-US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B683A-8C61-8222-BBEE-D47F0343C54D}"/>
              </a:ext>
            </a:extLst>
          </p:cNvPr>
          <p:cNvSpPr txBox="1"/>
          <p:nvPr/>
        </p:nvSpPr>
        <p:spPr>
          <a:xfrm>
            <a:off x="7086855" y="3983128"/>
            <a:ext cx="4728754" cy="8049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-בחינת כלים ל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model inference </a:t>
            </a:r>
          </a:p>
          <a:p>
            <a:pPr algn="r" rtl="1">
              <a:lnSpc>
                <a:spcPct val="115000"/>
              </a:lnSpc>
              <a:spcAft>
                <a:spcPts val="800"/>
              </a:spcAft>
            </a:pPr>
            <a:endParaRPr lang="he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123E8-90FF-9B4A-B892-C486E1222EBC}"/>
              </a:ext>
            </a:extLst>
          </p:cNvPr>
          <p:cNvSpPr txBox="1"/>
          <p:nvPr/>
        </p:nvSpPr>
        <p:spPr>
          <a:xfrm>
            <a:off x="7086855" y="4449127"/>
            <a:ext cx="4728754" cy="7904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15000"/>
              </a:lnSpc>
              <a:spcAft>
                <a:spcPts val="800"/>
              </a:spcAft>
            </a:pPr>
            <a:r>
              <a:rPr lang="he-IL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-השוואת ביצועים בעזרת מדדים סטטיסטיים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0918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841E2-1555-F8D9-EE4A-25547DAB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252" y="232869"/>
            <a:ext cx="4794068" cy="11845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e-IL" sz="5400" dirty="0"/>
              <a:t>יעדים סמסטר א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8677-6809-ED10-994B-C80AA128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909" y="1417453"/>
            <a:ext cx="9627325" cy="2758525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 indent="0" algn="r" rtl="1">
              <a:lnSpc>
                <a:spcPct val="170000"/>
              </a:lnSpc>
              <a:buNone/>
            </a:pPr>
            <a:r>
              <a:rPr lang="he-IL" sz="12800" dirty="0"/>
              <a:t>- </a:t>
            </a:r>
            <a:r>
              <a:rPr lang="he-IL" sz="12800" dirty="0">
                <a:effectLst/>
                <a:latin typeface="Segoe UI" panose="020B0502040204020203" pitchFamily="34" charset="0"/>
              </a:rPr>
              <a:t>הכרות עם פייתון</a:t>
            </a:r>
            <a:br>
              <a:rPr lang="he-IL" sz="12800" dirty="0">
                <a:effectLst/>
                <a:latin typeface="Segoe UI" panose="020B0502040204020203" pitchFamily="34" charset="0"/>
              </a:rPr>
            </a:br>
            <a:r>
              <a:rPr lang="he-IL" sz="12800" dirty="0">
                <a:effectLst/>
                <a:latin typeface="Segoe UI" panose="020B0502040204020203" pitchFamily="34" charset="0"/>
              </a:rPr>
              <a:t>- הכרות עם </a:t>
            </a:r>
            <a:r>
              <a:rPr lang="en-US" sz="12800" dirty="0">
                <a:effectLst/>
                <a:latin typeface="Segoe UI" panose="020B0502040204020203" pitchFamily="34" charset="0"/>
              </a:rPr>
              <a:t>deep learning</a:t>
            </a:r>
            <a:br>
              <a:rPr lang="en-US" sz="12800" dirty="0">
                <a:effectLst/>
                <a:latin typeface="Segoe UI" panose="020B0502040204020203" pitchFamily="34" charset="0"/>
              </a:rPr>
            </a:br>
            <a:r>
              <a:rPr lang="he-IL" sz="12800" dirty="0">
                <a:effectLst/>
                <a:latin typeface="Segoe UI" panose="020B0502040204020203" pitchFamily="34" charset="0"/>
              </a:rPr>
              <a:t>- הכרות </a:t>
            </a:r>
            <a:r>
              <a:rPr lang="en-US" sz="12800" dirty="0">
                <a:effectLst/>
                <a:latin typeface="Segoe UI" panose="020B0502040204020203" pitchFamily="34" charset="0"/>
              </a:rPr>
              <a:t>machine learning</a:t>
            </a:r>
            <a:br>
              <a:rPr lang="en-US" sz="12800" dirty="0">
                <a:effectLst/>
                <a:latin typeface="Segoe UI" panose="020B0502040204020203" pitchFamily="34" charset="0"/>
              </a:rPr>
            </a:br>
            <a:r>
              <a:rPr lang="he-IL" sz="12800" dirty="0">
                <a:latin typeface="Segoe UI" panose="020B0502040204020203" pitchFamily="34" charset="0"/>
              </a:rPr>
              <a:t>- </a:t>
            </a:r>
            <a:r>
              <a:rPr lang="he-IL" sz="12800" dirty="0">
                <a:effectLst/>
                <a:latin typeface="Segoe UI" panose="020B0502040204020203" pitchFamily="34" charset="0"/>
              </a:rPr>
              <a:t>בדיקת ההשפעה על </a:t>
            </a:r>
            <a:r>
              <a:rPr lang="en-US" sz="12800" dirty="0">
                <a:effectLst/>
                <a:latin typeface="Segoe UI" panose="020B0502040204020203" pitchFamily="34" charset="0"/>
              </a:rPr>
              <a:t> GPU</a:t>
            </a:r>
            <a:r>
              <a:rPr lang="he-IL" sz="12800" dirty="0">
                <a:effectLst/>
                <a:latin typeface="Segoe UI" panose="020B0502040204020203" pitchFamily="34" charset="0"/>
              </a:rPr>
              <a:t> ו</a:t>
            </a:r>
            <a:r>
              <a:rPr lang="en-US" sz="12800" dirty="0">
                <a:effectLst/>
                <a:latin typeface="Segoe UI" panose="020B0502040204020203" pitchFamily="34" charset="0"/>
              </a:rPr>
              <a:t>CPU</a:t>
            </a:r>
            <a:br>
              <a:rPr lang="en-US" sz="12800" dirty="0">
                <a:effectLst/>
                <a:latin typeface="Segoe UI" panose="020B0502040204020203" pitchFamily="34" charset="0"/>
              </a:rPr>
            </a:br>
            <a:r>
              <a:rPr lang="he-IL" sz="12800" dirty="0">
                <a:effectLst/>
                <a:latin typeface="Segoe UI" panose="020B0502040204020203" pitchFamily="34" charset="0"/>
              </a:rPr>
              <a:t>- חיפוש </a:t>
            </a:r>
            <a:r>
              <a:rPr lang="en-US" sz="12800" dirty="0">
                <a:effectLst/>
                <a:latin typeface="Segoe UI" panose="020B0502040204020203" pitchFamily="34" charset="0"/>
              </a:rPr>
              <a:t>test case  </a:t>
            </a:r>
            <a:r>
              <a:rPr lang="he-IL" sz="12800" dirty="0">
                <a:effectLst/>
                <a:latin typeface="Segoe UI" panose="020B0502040204020203" pitchFamily="34" charset="0"/>
              </a:rPr>
              <a:t> מעניינים</a:t>
            </a:r>
            <a:br>
              <a:rPr lang="he-IL" sz="12800" dirty="0">
                <a:effectLst/>
                <a:latin typeface="Segoe UI" panose="020B0502040204020203" pitchFamily="34" charset="0"/>
              </a:rPr>
            </a:br>
            <a:r>
              <a:rPr lang="he-IL" sz="12800" dirty="0">
                <a:effectLst/>
                <a:latin typeface="Segoe UI" panose="020B0502040204020203" pitchFamily="34" charset="0"/>
              </a:rPr>
              <a:t>- הכרת כלי עבודה: ייבחנו מגוון כלים להערכת ביצועים (</a:t>
            </a:r>
            <a:r>
              <a:rPr lang="en-US" sz="12800" dirty="0">
                <a:effectLst/>
                <a:latin typeface="Segoe UI" panose="020B0502040204020203" pitchFamily="34" charset="0"/>
              </a:rPr>
              <a:t>Profilers, JIT library in python</a:t>
            </a:r>
            <a:r>
              <a:rPr lang="he-IL" sz="12800" dirty="0">
                <a:effectLst/>
                <a:latin typeface="Segoe UI" panose="020B0502040204020203" pitchFamily="34" charset="0"/>
              </a:rPr>
              <a:t>)</a:t>
            </a:r>
            <a:endParaRPr lang="en-US" sz="12800" dirty="0"/>
          </a:p>
        </p:txBody>
      </p:sp>
    </p:spTree>
    <p:extLst>
      <p:ext uri="{BB962C8B-B14F-4D97-AF65-F5344CB8AC3E}">
        <p14:creationId xmlns:p14="http://schemas.microsoft.com/office/powerpoint/2010/main" val="163041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9EAB-4FE0-B798-2621-5383997B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ספריות בפייתון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039E3-0116-B5AA-35F3-801AD04C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Numpy</a:t>
            </a:r>
            <a:endParaRPr lang="en-US" dirty="0"/>
          </a:p>
          <a:p>
            <a:pPr lvl="1"/>
            <a:r>
              <a:rPr lang="he-IL" dirty="0"/>
              <a:t>ספריה המתמדת בחישובים נומריים וניתוח נתונים</a:t>
            </a:r>
          </a:p>
          <a:p>
            <a:pPr lvl="1"/>
            <a:r>
              <a:rPr lang="en-US" dirty="0"/>
              <a:t>(</a:t>
            </a:r>
            <a:r>
              <a:rPr lang="he-IL" dirty="0"/>
              <a:t>שימושים שלנו: עבור משימות של למידת מכונה (דוגמה – רגרסיה לינארית</a:t>
            </a:r>
          </a:p>
          <a:p>
            <a:pPr lvl="1"/>
            <a:r>
              <a:rPr lang="he-IL" dirty="0"/>
              <a:t>השתמשנו בפקודות לחישוב הפיתרון של הרגרסיה</a:t>
            </a:r>
          </a:p>
          <a:p>
            <a:pPr marL="228600" lvl="1" indent="0">
              <a:buNone/>
            </a:pPr>
            <a:endParaRPr lang="en-US" dirty="0"/>
          </a:p>
          <a:p>
            <a:r>
              <a:rPr lang="en-US" dirty="0" err="1"/>
              <a:t>Pytorch</a:t>
            </a:r>
            <a:r>
              <a:rPr lang="en-US" dirty="0"/>
              <a:t> – </a:t>
            </a:r>
          </a:p>
          <a:p>
            <a:pPr lvl="1"/>
            <a:r>
              <a:rPr lang="he-IL" dirty="0"/>
              <a:t>ספריה בקוד פתוח ללמידת מכונה המתמקדת לפיתוח רשתות נוירונים ללמידה עמוקה</a:t>
            </a:r>
          </a:p>
          <a:p>
            <a:pPr lvl="1"/>
            <a:r>
              <a:rPr lang="he-IL" dirty="0"/>
              <a:t>דורשת היכרות עם הטנסור להכנת הנתונים ללמידה, טעינת הנתונים למודל בצורה יעילה</a:t>
            </a:r>
          </a:p>
          <a:p>
            <a:pPr marL="228600" lvl="1" indent="0">
              <a:buNone/>
            </a:pPr>
            <a:endParaRPr lang="he-IL" dirty="0"/>
          </a:p>
          <a:p>
            <a:pPr marL="228600" lvl="1" indent="0">
              <a:buNone/>
            </a:pPr>
            <a:r>
              <a:rPr lang="en-US" dirty="0" err="1"/>
              <a:t>SkLearn</a:t>
            </a:r>
            <a:endParaRPr lang="en-US" dirty="0"/>
          </a:p>
          <a:p>
            <a:pPr lvl="1"/>
            <a:r>
              <a:rPr lang="he-IL" dirty="0"/>
              <a:t>חבילה מקיפה שמספקת מגוון מודלים לרגרסיה, וכלים להערכת ביצועים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93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ECFA-402D-BED7-7F89-AC5615DA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הכרות עם </a:t>
            </a:r>
            <a:r>
              <a:rPr lang="en-US" dirty="0"/>
              <a:t>DL/ML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ED00F-007A-AD9A-8438-AE6BCB252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dirty="0"/>
              <a:t>DL</a:t>
            </a:r>
            <a:r>
              <a:rPr lang="he-IL" dirty="0"/>
              <a:t> (למידה עמוקה)</a:t>
            </a:r>
          </a:p>
          <a:p>
            <a:pPr algn="r" rtl="1"/>
            <a:r>
              <a:rPr lang="he-IL" dirty="0"/>
              <a:t>כיצד פועלת רשת נוירונים</a:t>
            </a:r>
          </a:p>
          <a:p>
            <a:pPr lvl="1" algn="r" rtl="1"/>
            <a:r>
              <a:rPr lang="he-IL" dirty="0"/>
              <a:t>כיצד הרשת מהונדסת -  שכבות – איך אפשר לשנות את גודל השכבות ואיך זה משפיע על תהליך הלמידה</a:t>
            </a:r>
          </a:p>
          <a:p>
            <a:pPr lvl="1" algn="r" rtl="1"/>
            <a:r>
              <a:rPr lang="en-US" dirty="0"/>
              <a:t>BATCH SIZE</a:t>
            </a:r>
            <a:r>
              <a:rPr lang="he-IL" dirty="0"/>
              <a:t> – אימון המודל על קבוצות קטנות של דאטא לשיפור הדיוק(ליתר דיוק, גודל מתאים למשימת הלמידה) </a:t>
            </a:r>
          </a:p>
          <a:p>
            <a:pPr lvl="1" algn="r" rtl="1"/>
            <a:r>
              <a:rPr lang="he-IL" dirty="0"/>
              <a:t> </a:t>
            </a:r>
            <a:r>
              <a:rPr lang="en-US" dirty="0"/>
              <a:t>shuffling</a:t>
            </a:r>
            <a:r>
              <a:rPr lang="he-IL" dirty="0"/>
              <a:t> – פעולה שנעשית על סט האימון, כדי לוודא שהסדר שבו מופיעים הנתונים אינו משפיע על תהליך האימון</a:t>
            </a:r>
          </a:p>
          <a:p>
            <a:pPr marL="228600" lvl="1" indent="0" algn="r" rtl="1">
              <a:buNone/>
            </a:pPr>
            <a:endParaRPr lang="he-IL" dirty="0"/>
          </a:p>
          <a:p>
            <a:pPr marL="228600" lvl="1" indent="0" algn="r" rtl="1">
              <a:buNone/>
            </a:pPr>
            <a:r>
              <a:rPr lang="en-US" dirty="0"/>
              <a:t>ML</a:t>
            </a:r>
            <a:r>
              <a:rPr lang="he-IL" dirty="0"/>
              <a:t> (למידת מכונה)</a:t>
            </a:r>
          </a:p>
          <a:p>
            <a:pPr lvl="1" algn="r" rtl="1"/>
            <a:r>
              <a:rPr lang="he-IL" dirty="0"/>
              <a:t>מחזור חיים של למידת מכונה –יצירת נתונים, אימון, ניסוי, חיזוי</a:t>
            </a:r>
          </a:p>
          <a:p>
            <a:pPr lvl="1" algn="r" rtl="1"/>
            <a:r>
              <a:rPr lang="he-IL" dirty="0"/>
              <a:t>השוואה בין רגרסיה לינארית ולוגיסטית </a:t>
            </a:r>
          </a:p>
          <a:p>
            <a:pPr lvl="1" algn="r" rtl="1"/>
            <a:r>
              <a:rPr lang="he-IL" dirty="0"/>
              <a:t>כיצד יש להתאים אלגוריתם רגרסיה לוגיסטית לסיווג של מספר גדול של מחלקות </a:t>
            </a:r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01219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58609-8052-2B52-F542-CECE3FF2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4400" dirty="0">
                <a:effectLst/>
                <a:latin typeface="Segoe UI" panose="020B0502040204020203" pitchFamily="34" charset="0"/>
              </a:rPr>
              <a:t>בדיקת ההשפעה על </a:t>
            </a:r>
            <a:r>
              <a:rPr lang="en-US" sz="4400" dirty="0">
                <a:effectLst/>
                <a:latin typeface="Segoe UI" panose="020B0502040204020203" pitchFamily="34" charset="0"/>
              </a:rPr>
              <a:t>CPU</a:t>
            </a:r>
            <a:r>
              <a:rPr lang="he-IL" sz="4400" dirty="0">
                <a:effectLst/>
                <a:latin typeface="Segoe UI" panose="020B0502040204020203" pitchFamily="34" charset="0"/>
              </a:rPr>
              <a:t> ו</a:t>
            </a:r>
            <a:r>
              <a:rPr lang="en-US" sz="4400" dirty="0">
                <a:effectLst/>
                <a:latin typeface="Segoe UI" panose="020B0502040204020203" pitchFamily="34" charset="0"/>
              </a:rPr>
              <a:t>GPU</a:t>
            </a:r>
            <a:endParaRPr lang="he-IL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29AE7-1698-ECAC-F064-5A07BD7A6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en-US" sz="2800" dirty="0"/>
              <a:t>CPU</a:t>
            </a:r>
            <a:endParaRPr lang="he-IL" sz="2800" dirty="0"/>
          </a:p>
          <a:p>
            <a:pPr lvl="1" algn="r" rtl="1"/>
            <a:r>
              <a:rPr lang="he-IL" sz="2800" dirty="0"/>
              <a:t>לא נגענו בזה יותר מידי מלבד לבדוק את זמן הריצה שלוקח למודל לרוץ, אבל זה עדיין לא מראה באופן ישיר את ההשפעה על ה</a:t>
            </a:r>
            <a:r>
              <a:rPr lang="en-US" sz="2800" dirty="0"/>
              <a:t>CPU</a:t>
            </a:r>
            <a:r>
              <a:rPr lang="he-IL" sz="2800" dirty="0"/>
              <a:t>, וודאי שלא על ה</a:t>
            </a:r>
            <a:r>
              <a:rPr lang="en-US" sz="2800" dirty="0"/>
              <a:t>GPU</a:t>
            </a:r>
            <a:r>
              <a:rPr lang="he-IL" sz="2800" dirty="0"/>
              <a:t> כי לא קיבלנו עדיין גישה לכך (לידיעת המרצים)</a:t>
            </a:r>
          </a:p>
          <a:p>
            <a:pPr lvl="1" algn="r" rtl="1"/>
            <a:r>
              <a:rPr lang="he-IL" sz="2800" dirty="0"/>
              <a:t>התחלנו ללמוד על האופן להשתמש ב</a:t>
            </a:r>
            <a:r>
              <a:rPr lang="en-US" sz="2800" dirty="0"/>
              <a:t>GPU</a:t>
            </a:r>
            <a:r>
              <a:rPr lang="he-IL" sz="2800" dirty="0"/>
              <a:t> , כיצד להגדיר לתוכנה לעשות בו שימוש (</a:t>
            </a:r>
            <a:r>
              <a:rPr lang="en-US" sz="2800" dirty="0"/>
              <a:t>Decorator</a:t>
            </a:r>
            <a:r>
              <a:rPr lang="he-IL" sz="2800" dirty="0"/>
              <a:t>)</a:t>
            </a:r>
          </a:p>
          <a:p>
            <a:pPr lvl="1" algn="r" rtl="1"/>
            <a:r>
              <a:rPr lang="he-IL" sz="2800" dirty="0"/>
              <a:t>הערה: אנחנו בתהליך אפיון של </a:t>
            </a:r>
            <a:r>
              <a:rPr lang="en-US" sz="2800" dirty="0"/>
              <a:t>test</a:t>
            </a:r>
            <a:r>
              <a:rPr lang="he-IL" sz="2800" dirty="0"/>
              <a:t>-ים נוספים</a:t>
            </a:r>
          </a:p>
          <a:p>
            <a:pPr lvl="1" algn="r" rtl="1"/>
            <a:endParaRPr lang="he-IL" sz="2800" dirty="0"/>
          </a:p>
          <a:p>
            <a:pPr lvl="1"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9980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75E6-2169-3CCA-5658-095F89AA5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/>
              <a:t>חיפוש </a:t>
            </a:r>
            <a:r>
              <a:rPr lang="en-US" dirty="0"/>
              <a:t>Test Case</a:t>
            </a:r>
            <a:r>
              <a:rPr lang="he-IL" dirty="0"/>
              <a:t> מענייננים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E0F9-5FE1-5F04-0A1C-F7D308730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2800" b="1" dirty="0"/>
              <a:t>למידה של </a:t>
            </a:r>
            <a:r>
              <a:rPr lang="en-US" sz="2800" b="1" dirty="0"/>
              <a:t>concentric circles</a:t>
            </a:r>
            <a:r>
              <a:rPr lang="he-IL" sz="2800" b="1" dirty="0"/>
              <a:t> </a:t>
            </a:r>
          </a:p>
          <a:p>
            <a:pPr lvl="1" algn="r" rtl="1"/>
            <a:r>
              <a:rPr lang="he-IL" sz="2800" dirty="0"/>
              <a:t>להשוות את המודלים של רגרסיה (לינארית ולוגיסטית) מול רשת נוירונים </a:t>
            </a:r>
          </a:p>
          <a:p>
            <a:pPr lvl="1" algn="r" rtl="1"/>
            <a:r>
              <a:rPr lang="he-IL" sz="2800" dirty="0"/>
              <a:t>בחינה של הוספת שכבות לרשת נוירונים </a:t>
            </a:r>
          </a:p>
          <a:p>
            <a:pPr lvl="1" algn="r" rtl="1"/>
            <a:r>
              <a:rPr lang="he-IL" sz="2800" dirty="0"/>
              <a:t>הגדלת ה</a:t>
            </a:r>
            <a:r>
              <a:rPr lang="en-US" sz="2800" dirty="0"/>
              <a:t>BATCH </a:t>
            </a:r>
            <a:r>
              <a:rPr lang="he-IL" sz="2800" dirty="0"/>
              <a:t> על מנת להכליל את הדאטא וכדי שיהיה יותר מהיר </a:t>
            </a:r>
          </a:p>
        </p:txBody>
      </p:sp>
    </p:spTree>
    <p:extLst>
      <p:ext uri="{BB962C8B-B14F-4D97-AF65-F5344CB8AC3E}">
        <p14:creationId xmlns:p14="http://schemas.microsoft.com/office/powerpoint/2010/main" val="397682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526E-45B6-1C3C-059D-01950BCC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הכרת כלי עבודה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B888-217E-0CBC-B772-B97899DFB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sz="4000" dirty="0">
                <a:effectLst/>
                <a:latin typeface="Segoe UI" panose="020B0502040204020203" pitchFamily="34" charset="0"/>
              </a:rPr>
              <a:t>ייבחנו מגוון כלים להערכת ביצועים </a:t>
            </a:r>
            <a:endParaRPr lang="en-US" sz="4000" dirty="0">
              <a:effectLst/>
              <a:latin typeface="Segoe UI" panose="020B0502040204020203" pitchFamily="34" charset="0"/>
            </a:endParaRPr>
          </a:p>
          <a:p>
            <a:pPr algn="r" rtl="1"/>
            <a:r>
              <a:rPr lang="en-US" sz="4000" dirty="0">
                <a:effectLst/>
                <a:latin typeface="Segoe UI" panose="020B0502040204020203" pitchFamily="34" charset="0"/>
              </a:rPr>
              <a:t>Profilers, JIT library in python</a:t>
            </a:r>
            <a:r>
              <a:rPr lang="he-IL" sz="4000" dirty="0">
                <a:effectLst/>
                <a:latin typeface="Segoe UI" panose="020B0502040204020203" pitchFamily="34" charset="0"/>
              </a:rPr>
              <a:t> </a:t>
            </a:r>
          </a:p>
          <a:p>
            <a:pPr algn="r" rtl="1"/>
            <a:r>
              <a:rPr lang="he-IL" sz="3600" dirty="0">
                <a:effectLst/>
                <a:latin typeface="Segoe UI" panose="020B0502040204020203" pitchFamily="34" charset="0"/>
              </a:rPr>
              <a:t>שמטרתם לנתח את ביצועי הקוד, לזהות צווארי בקבוק, ולסייע בשיפור יעילות וזמני הריצה של תוכניות.</a:t>
            </a:r>
          </a:p>
          <a:p>
            <a:pPr algn="r" rtl="1"/>
            <a:r>
              <a:rPr lang="he-IL" sz="3600" dirty="0">
                <a:latin typeface="Segoe UI" panose="020B0502040204020203" pitchFamily="34" charset="0"/>
              </a:rPr>
              <a:t>הערה: כלי </a:t>
            </a:r>
            <a:r>
              <a:rPr lang="en-US" sz="3600" dirty="0">
                <a:latin typeface="Segoe UI" panose="020B0502040204020203" pitchFamily="34" charset="0"/>
              </a:rPr>
              <a:t>profiling</a:t>
            </a:r>
            <a:r>
              <a:rPr lang="he-IL" sz="3600" dirty="0">
                <a:latin typeface="Segoe UI" panose="020B0502040204020203" pitchFamily="34" charset="0"/>
              </a:rPr>
              <a:t> ייבחנו בסמסטר הבא</a:t>
            </a:r>
            <a:endParaRPr lang="he-IL" sz="4000" dirty="0">
              <a:effectLst/>
              <a:latin typeface="Segoe UI" panose="020B0502040204020203" pitchFamily="34" charset="0"/>
            </a:endParaRPr>
          </a:p>
          <a:p>
            <a:pPr algn="r" rtl="1"/>
            <a:endParaRPr lang="he-IL" sz="4000" dirty="0"/>
          </a:p>
        </p:txBody>
      </p:sp>
    </p:spTree>
    <p:extLst>
      <p:ext uri="{BB962C8B-B14F-4D97-AF65-F5344CB8AC3E}">
        <p14:creationId xmlns:p14="http://schemas.microsoft.com/office/powerpoint/2010/main" val="253077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169B1-AE8E-E4C0-12B6-9D758B1D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/>
              <a:t>תוצאות</a:t>
            </a:r>
            <a:br>
              <a:rPr lang="en-US" dirty="0"/>
            </a:br>
            <a:r>
              <a:rPr lang="he-IL" sz="2700" b="0" dirty="0"/>
              <a:t>רגרסיה על עננים גאוסיים</a:t>
            </a:r>
            <a:br>
              <a:rPr lang="he-IL" dirty="0"/>
            </a:b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93BF2-52CF-CA0A-3CF5-0F312BEC5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7815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AEB2-11C7-439C-4D5C-33C28E1A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422" y="-127070"/>
            <a:ext cx="10653578" cy="1132258"/>
          </a:xfrm>
        </p:spPr>
        <p:txBody>
          <a:bodyPr/>
          <a:lstStyle/>
          <a:p>
            <a:pPr algn="r" rtl="1"/>
            <a:r>
              <a:rPr lang="he-IL" dirty="0"/>
              <a:t>תוצאות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08BCF-558C-7CFD-3352-D0D4C49D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020" y="3746290"/>
            <a:ext cx="4042396" cy="3047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4C26CA-E2C8-791C-B630-C424584662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5"/>
          <a:stretch/>
        </p:blipFill>
        <p:spPr>
          <a:xfrm>
            <a:off x="5646141" y="337345"/>
            <a:ext cx="3707833" cy="34525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826538-F18F-91AC-020E-F0D582E1C4F1}"/>
              </a:ext>
            </a:extLst>
          </p:cNvPr>
          <p:cNvSpPr txBox="1"/>
          <p:nvPr/>
        </p:nvSpPr>
        <p:spPr>
          <a:xfrm>
            <a:off x="8559159" y="912855"/>
            <a:ext cx="264474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דאטא:</a:t>
            </a:r>
          </a:p>
          <a:p>
            <a:pPr algn="r" rtl="1"/>
            <a:r>
              <a:rPr lang="en-US" dirty="0"/>
              <a:t>Samples: 10K</a:t>
            </a:r>
          </a:p>
          <a:p>
            <a:pPr algn="r" rtl="1"/>
            <a:r>
              <a:rPr lang="en-US" dirty="0"/>
              <a:t>Train/Test ratio: 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A8187-3939-ED9D-1FC6-1630E0C571BD}"/>
              </a:ext>
            </a:extLst>
          </p:cNvPr>
          <p:cNvSpPr txBox="1"/>
          <p:nvPr/>
        </p:nvSpPr>
        <p:spPr>
          <a:xfrm>
            <a:off x="2728355" y="3420526"/>
            <a:ext cx="16421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dirty="0"/>
              <a:t>חיזוי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DE4126-3363-245B-318B-5D379F7E8B29}"/>
              </a:ext>
            </a:extLst>
          </p:cNvPr>
          <p:cNvSpPr txBox="1"/>
          <p:nvPr/>
        </p:nvSpPr>
        <p:spPr>
          <a:xfrm>
            <a:off x="6044157" y="152679"/>
            <a:ext cx="1642107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dirty="0"/>
              <a:t>מקור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DE0FCA-9620-5B79-09D9-9CA25057283A}"/>
              </a:ext>
            </a:extLst>
          </p:cNvPr>
          <p:cNvSpPr txBox="1"/>
          <p:nvPr/>
        </p:nvSpPr>
        <p:spPr>
          <a:xfrm>
            <a:off x="5646142" y="4254273"/>
            <a:ext cx="2913017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dirty="0"/>
          </a:p>
          <a:p>
            <a:pPr algn="r" rtl="1"/>
            <a:r>
              <a:rPr lang="he-IL" dirty="0"/>
              <a:t>פרמטרי מודל:</a:t>
            </a:r>
          </a:p>
          <a:p>
            <a:pPr algn="r" rtl="1"/>
            <a:r>
              <a:rPr lang="he-IL" dirty="0"/>
              <a:t>מס' שכבות: 3</a:t>
            </a:r>
          </a:p>
          <a:p>
            <a:pPr algn="r" rtl="1"/>
            <a:r>
              <a:rPr lang="he-IL" dirty="0"/>
              <a:t>גודל שכבה: </a:t>
            </a:r>
            <a:r>
              <a:rPr lang="en-US" dirty="0"/>
              <a:t>L1= 2X128, L2=128x128, L3=128x2</a:t>
            </a:r>
            <a:endParaRPr lang="he-IL" dirty="0"/>
          </a:p>
          <a:p>
            <a:pPr algn="r" rtl="1"/>
            <a:r>
              <a:rPr lang="he-IL" dirty="0"/>
              <a:t>גודל </a:t>
            </a:r>
            <a:r>
              <a:rPr lang="en-US" dirty="0"/>
              <a:t>Batch</a:t>
            </a:r>
            <a:r>
              <a:rPr lang="he-IL" dirty="0"/>
              <a:t>: 64 </a:t>
            </a:r>
            <a:endParaRPr lang="en-US" dirty="0"/>
          </a:p>
          <a:p>
            <a:pPr algn="r" rtl="1"/>
            <a:endParaRPr lang="he-I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18C30C-4416-9959-7C4D-622C3FF82C41}"/>
              </a:ext>
            </a:extLst>
          </p:cNvPr>
          <p:cNvSpPr txBox="1"/>
          <p:nvPr/>
        </p:nvSpPr>
        <p:spPr>
          <a:xfrm>
            <a:off x="10168172" y="375920"/>
            <a:ext cx="233123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/>
              <a:t>רשת נוירונים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E732A4-E568-7D45-D9AA-47DDCC90867C}"/>
              </a:ext>
            </a:extLst>
          </p:cNvPr>
          <p:cNvSpPr txBox="1"/>
          <p:nvPr/>
        </p:nvSpPr>
        <p:spPr>
          <a:xfrm>
            <a:off x="169817" y="4702629"/>
            <a:ext cx="1368605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תוצאות:</a:t>
            </a:r>
          </a:p>
          <a:p>
            <a:pPr algn="r" rtl="1"/>
            <a:r>
              <a:rPr lang="en-US" dirty="0"/>
              <a:t>Accuracy: 99.6%, Avg loss: 0.486441</a:t>
            </a:r>
            <a:endParaRPr lang="he-IL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8DFCABA2-6FEC-9631-426F-AD3BB614B9CA}"/>
              </a:ext>
            </a:extLst>
          </p:cNvPr>
          <p:cNvCxnSpPr/>
          <p:nvPr/>
        </p:nvCxnSpPr>
        <p:spPr>
          <a:xfrm rot="5400000">
            <a:off x="4276521" y="2464661"/>
            <a:ext cx="2037806" cy="1541418"/>
          </a:xfrm>
          <a:prstGeom prst="bentConnector3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9689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AnalogousFromRegularSeedLeftStep">
      <a:dk1>
        <a:srgbClr val="000000"/>
      </a:dk1>
      <a:lt1>
        <a:srgbClr val="FFFFFF"/>
      </a:lt1>
      <a:dk2>
        <a:srgbClr val="242641"/>
      </a:dk2>
      <a:lt2>
        <a:srgbClr val="E2E8E6"/>
      </a:lt2>
      <a:accent1>
        <a:srgbClr val="C34D6C"/>
      </a:accent1>
      <a:accent2>
        <a:srgbClr val="B13B8C"/>
      </a:accent2>
      <a:accent3>
        <a:srgbClr val="B84DC3"/>
      </a:accent3>
      <a:accent4>
        <a:srgbClr val="743BB1"/>
      </a:accent4>
      <a:accent5>
        <a:srgbClr val="554DC3"/>
      </a:accent5>
      <a:accent6>
        <a:srgbClr val="3B64B1"/>
      </a:accent6>
      <a:hlink>
        <a:srgbClr val="319379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575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Neue Haas Grotesk Text Pro</vt:lpstr>
      <vt:lpstr>Segoe UI</vt:lpstr>
      <vt:lpstr>VanillaVTI</vt:lpstr>
      <vt:lpstr>Analysis and Inference of Deep Learning models  Analyzing and optimizing workload and performance on GPU</vt:lpstr>
      <vt:lpstr>מטרות הפרויקט</vt:lpstr>
      <vt:lpstr>יעדים</vt:lpstr>
      <vt:lpstr>יעדים סמסטר א</vt:lpstr>
      <vt:lpstr>ספריות בפייתון</vt:lpstr>
      <vt:lpstr>הכרות עם DL/ML</vt:lpstr>
      <vt:lpstr>בדיקת ההשפעה על CPU וGPU</vt:lpstr>
      <vt:lpstr>חיפוש Test Case מענייננים</vt:lpstr>
      <vt:lpstr>הכרת כלי עבודה </vt:lpstr>
      <vt:lpstr>תוצאות רגרסיה על עננים גאוסיים </vt:lpstr>
      <vt:lpstr>תוצאות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Ariel Benillouche</dc:creator>
  <cp:lastModifiedBy>Ariel Benillouche</cp:lastModifiedBy>
  <cp:revision>21</cp:revision>
  <dcterms:created xsi:type="dcterms:W3CDTF">2025-02-19T15:36:32Z</dcterms:created>
  <dcterms:modified xsi:type="dcterms:W3CDTF">2025-02-19T20:50:16Z</dcterms:modified>
</cp:coreProperties>
</file>